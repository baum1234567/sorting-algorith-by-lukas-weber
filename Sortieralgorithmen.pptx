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61" r:id="rId4"/>
    <p:sldId id="262" r:id="rId5"/>
    <p:sldId id="263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2" autoAdjust="0"/>
    <p:restoredTop sz="94660"/>
  </p:normalViewPr>
  <p:slideViewPr>
    <p:cSldViewPr snapToGrid="0">
      <p:cViewPr>
        <p:scale>
          <a:sx n="125" d="100"/>
          <a:sy n="125" d="100"/>
        </p:scale>
        <p:origin x="1470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BB8B2-5EDB-464A-BE1E-1417714CEDD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61F49-2480-4EBE-A440-295AD4DFE3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7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857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7ab2cd0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7ab2cd0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7249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7ab2cd0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7ab2cd0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0042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1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94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65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0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2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56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9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29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05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76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techstartup-osc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4915200" cy="8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4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5992736" y="2601433"/>
            <a:ext cx="1351200" cy="82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 hasCustomPrompt="1"/>
          </p:nvPr>
        </p:nvSpPr>
        <p:spPr>
          <a:xfrm>
            <a:off x="5992736" y="4408367"/>
            <a:ext cx="1351200" cy="82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4" hasCustomPrompt="1"/>
          </p:nvPr>
        </p:nvSpPr>
        <p:spPr>
          <a:xfrm>
            <a:off x="5992736" y="3504900"/>
            <a:ext cx="1351200" cy="82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5" hasCustomPrompt="1"/>
          </p:nvPr>
        </p:nvSpPr>
        <p:spPr>
          <a:xfrm>
            <a:off x="5992736" y="5311833"/>
            <a:ext cx="1351200" cy="82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667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7413033" y="2601451"/>
            <a:ext cx="3828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7413033" y="3504917"/>
            <a:ext cx="3828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7413033" y="4408384"/>
            <a:ext cx="3828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7413033" y="5311851"/>
            <a:ext cx="3828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667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951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5F00F-3424-4369-8CF6-27FF1170857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9C849-B0C7-4365-8580-C1BE883329D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83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>
            <a:spLocks noGrp="1"/>
          </p:cNvSpPr>
          <p:nvPr>
            <p:ph type="ctrTitle"/>
          </p:nvPr>
        </p:nvSpPr>
        <p:spPr>
          <a:xfrm>
            <a:off x="950967" y="719333"/>
            <a:ext cx="10290000" cy="12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b="1" dirty="0" smtClean="0">
                <a:solidFill>
                  <a:schemeClr val="bg1"/>
                </a:solidFill>
              </a:rPr>
              <a:t>Sortieralgorithmen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67" y="2943225"/>
            <a:ext cx="4063863" cy="2281746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" r="677"/>
          <a:stretch/>
        </p:blipFill>
        <p:spPr>
          <a:xfrm>
            <a:off x="6799317" y="2948940"/>
            <a:ext cx="4036323" cy="2275640"/>
          </a:xfrm>
          <a:prstGeom prst="rect">
            <a:avLst/>
          </a:prstGeom>
        </p:spPr>
      </p:pic>
      <p:cxnSp>
        <p:nvCxnSpPr>
          <p:cNvPr id="9" name="Gerader Verbinder 8"/>
          <p:cNvCxnSpPr/>
          <p:nvPr/>
        </p:nvCxnSpPr>
        <p:spPr>
          <a:xfrm>
            <a:off x="1127760" y="1790700"/>
            <a:ext cx="12344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55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4915200" cy="8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Gliederung</a:t>
            </a:r>
            <a:endParaRPr dirty="0"/>
          </a:p>
        </p:txBody>
      </p:sp>
      <p:sp>
        <p:nvSpPr>
          <p:cNvPr id="145" name="Google Shape;145;p30"/>
          <p:cNvSpPr txBox="1">
            <a:spLocks noGrp="1"/>
          </p:cNvSpPr>
          <p:nvPr>
            <p:ph type="title" idx="2"/>
          </p:nvPr>
        </p:nvSpPr>
        <p:spPr>
          <a:xfrm>
            <a:off x="5992736" y="2601433"/>
            <a:ext cx="1351200" cy="8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>
                <a:solidFill>
                  <a:schemeClr val="bg1"/>
                </a:solidFill>
              </a:rPr>
              <a:t>(01)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6" name="Google Shape;146;p30"/>
          <p:cNvSpPr txBox="1">
            <a:spLocks noGrp="1"/>
          </p:cNvSpPr>
          <p:nvPr>
            <p:ph type="title" idx="3"/>
          </p:nvPr>
        </p:nvSpPr>
        <p:spPr>
          <a:xfrm>
            <a:off x="5992736" y="4408367"/>
            <a:ext cx="1351200" cy="8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>
                <a:solidFill>
                  <a:schemeClr val="bg1"/>
                </a:solidFill>
              </a:rPr>
              <a:t>(03)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7" name="Google Shape;147;p30"/>
          <p:cNvSpPr txBox="1">
            <a:spLocks noGrp="1"/>
          </p:cNvSpPr>
          <p:nvPr>
            <p:ph type="title" idx="4"/>
          </p:nvPr>
        </p:nvSpPr>
        <p:spPr>
          <a:xfrm>
            <a:off x="5992736" y="3504900"/>
            <a:ext cx="1351200" cy="8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>
                <a:solidFill>
                  <a:schemeClr val="bg1"/>
                </a:solidFill>
              </a:rPr>
              <a:t>(02)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8" name="Google Shape;148;p30"/>
          <p:cNvSpPr txBox="1">
            <a:spLocks noGrp="1"/>
          </p:cNvSpPr>
          <p:nvPr>
            <p:ph type="title" idx="5"/>
          </p:nvPr>
        </p:nvSpPr>
        <p:spPr>
          <a:xfrm>
            <a:off x="5992736" y="5311833"/>
            <a:ext cx="1351200" cy="8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>
                <a:solidFill>
                  <a:schemeClr val="bg1"/>
                </a:solidFill>
              </a:rPr>
              <a:t>(04)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9" name="Google Shape;149;p30"/>
          <p:cNvSpPr txBox="1">
            <a:spLocks noGrp="1"/>
          </p:cNvSpPr>
          <p:nvPr>
            <p:ph type="subTitle" idx="1"/>
          </p:nvPr>
        </p:nvSpPr>
        <p:spPr>
          <a:xfrm>
            <a:off x="7413033" y="2601451"/>
            <a:ext cx="3828000" cy="8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r>
              <a:rPr lang="en" dirty="0" smtClean="0">
                <a:solidFill>
                  <a:schemeClr val="bg1"/>
                </a:solidFill>
              </a:rPr>
              <a:t>Was ist ein Sortieralgorithmus?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0" name="Google Shape;150;p30"/>
          <p:cNvSpPr txBox="1">
            <a:spLocks noGrp="1"/>
          </p:cNvSpPr>
          <p:nvPr>
            <p:ph type="subTitle" idx="6"/>
          </p:nvPr>
        </p:nvSpPr>
        <p:spPr>
          <a:xfrm>
            <a:off x="7413033" y="3504917"/>
            <a:ext cx="3828000" cy="8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r>
              <a:rPr lang="en" dirty="0" smtClean="0">
                <a:solidFill>
                  <a:schemeClr val="bg1"/>
                </a:solidFill>
              </a:rPr>
              <a:t>Bubble Sort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1" name="Google Shape;151;p30"/>
          <p:cNvSpPr txBox="1">
            <a:spLocks noGrp="1"/>
          </p:cNvSpPr>
          <p:nvPr>
            <p:ph type="subTitle" idx="7"/>
          </p:nvPr>
        </p:nvSpPr>
        <p:spPr>
          <a:xfrm>
            <a:off x="7413033" y="4408384"/>
            <a:ext cx="3828000" cy="8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r>
              <a:rPr lang="en" dirty="0" smtClean="0">
                <a:solidFill>
                  <a:schemeClr val="bg1"/>
                </a:solidFill>
              </a:rPr>
              <a:t>Selection Sort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Google Shape;152;p30"/>
          <p:cNvSpPr txBox="1">
            <a:spLocks noGrp="1"/>
          </p:cNvSpPr>
          <p:nvPr>
            <p:ph type="subTitle" idx="8"/>
          </p:nvPr>
        </p:nvSpPr>
        <p:spPr>
          <a:xfrm>
            <a:off x="7413033" y="5311851"/>
            <a:ext cx="3828000" cy="82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/>
            <a:r>
              <a:rPr lang="en" dirty="0" smtClean="0">
                <a:solidFill>
                  <a:schemeClr val="bg1"/>
                </a:solidFill>
              </a:rPr>
              <a:t>Vergleich der Sortieralgorithmen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17" y="3000375"/>
            <a:ext cx="4063863" cy="2281746"/>
          </a:xfrm>
          <a:prstGeom prst="rect">
            <a:avLst/>
          </a:prstGeom>
        </p:spPr>
      </p:pic>
      <p:cxnSp>
        <p:nvCxnSpPr>
          <p:cNvPr id="3" name="Gerader Verbinder 2"/>
          <p:cNvCxnSpPr/>
          <p:nvPr/>
        </p:nvCxnSpPr>
        <p:spPr>
          <a:xfrm>
            <a:off x="1104900" y="1402080"/>
            <a:ext cx="12344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" r="990"/>
          <a:stretch/>
        </p:blipFill>
        <p:spPr>
          <a:xfrm>
            <a:off x="893817" y="3000375"/>
            <a:ext cx="4063863" cy="231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" r="990"/>
          <a:stretch/>
        </p:blipFill>
        <p:spPr>
          <a:xfrm>
            <a:off x="893817" y="3000375"/>
            <a:ext cx="4063863" cy="231021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50966" y="719333"/>
            <a:ext cx="7926333" cy="826800"/>
          </a:xfrm>
        </p:spPr>
        <p:txBody>
          <a:bodyPr/>
          <a:lstStyle/>
          <a:p>
            <a:r>
              <a:rPr lang="de-DE" dirty="0" smtClean="0">
                <a:solidFill>
                  <a:schemeClr val="bg1"/>
                </a:solidFill>
              </a:rPr>
              <a:t>Was ist ein Sortieralgorithmus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Untertitel 9"/>
          <p:cNvSpPr>
            <a:spLocks noGrp="1"/>
          </p:cNvSpPr>
          <p:nvPr>
            <p:ph type="subTitle" idx="8"/>
          </p:nvPr>
        </p:nvSpPr>
        <p:spPr>
          <a:xfrm>
            <a:off x="6254792" y="2202890"/>
            <a:ext cx="5937208" cy="4853230"/>
          </a:xfrm>
        </p:spPr>
        <p:txBody>
          <a:bodyPr/>
          <a:lstStyle/>
          <a:p>
            <a:pPr marL="0" indent="0"/>
            <a:r>
              <a:rPr lang="de-DE" sz="2000" dirty="0" smtClean="0">
                <a:solidFill>
                  <a:schemeClr val="bg1"/>
                </a:solidFill>
              </a:rPr>
              <a:t>- ordnet Elemente in einer bestimmten Reihenfolge</a:t>
            </a:r>
          </a:p>
          <a:p>
            <a:pPr marL="0" indent="0"/>
            <a:r>
              <a:rPr lang="de-DE" sz="2000" dirty="0" smtClean="0">
                <a:solidFill>
                  <a:schemeClr val="bg1"/>
                </a:solidFill>
              </a:rPr>
              <a:t>- entweder aufsteigend oder absteigend</a:t>
            </a:r>
          </a:p>
          <a:p>
            <a:pPr marL="0" indent="0"/>
            <a:r>
              <a:rPr lang="de-DE" sz="2000" dirty="0" smtClean="0">
                <a:solidFill>
                  <a:schemeClr val="bg1"/>
                </a:solidFill>
              </a:rPr>
              <a:t>- wird in vielen Bereichen benutzt</a:t>
            </a:r>
          </a:p>
          <a:p>
            <a:pPr marL="457200" lvl="1" indent="0"/>
            <a:r>
              <a:rPr lang="de-DE" sz="2000" dirty="0" smtClean="0">
                <a:solidFill>
                  <a:schemeClr val="bg1"/>
                </a:solidFill>
              </a:rPr>
              <a:t>- Datenbanken</a:t>
            </a:r>
          </a:p>
          <a:p>
            <a:pPr marL="457200" lvl="1" indent="0"/>
            <a:r>
              <a:rPr lang="de-DE" sz="2000" dirty="0" smtClean="0">
                <a:solidFill>
                  <a:schemeClr val="bg1"/>
                </a:solidFill>
              </a:rPr>
              <a:t>- Suchalgorithmen</a:t>
            </a:r>
          </a:p>
          <a:p>
            <a:pPr marL="457200" lvl="1" indent="0"/>
            <a:r>
              <a:rPr lang="de-DE" sz="2000" dirty="0" smtClean="0">
                <a:solidFill>
                  <a:schemeClr val="bg1"/>
                </a:solidFill>
              </a:rPr>
              <a:t>- Spiele oder Simulationen</a:t>
            </a:r>
          </a:p>
          <a:p>
            <a:pPr marL="457200" lvl="1" indent="0"/>
            <a:endParaRPr lang="de-DE" sz="2000" dirty="0" smtClean="0">
              <a:solidFill>
                <a:schemeClr val="bg1"/>
              </a:solidFill>
            </a:endParaRPr>
          </a:p>
          <a:p>
            <a:pPr marL="0" indent="0"/>
            <a:r>
              <a:rPr lang="de-DE" sz="2000" dirty="0" smtClean="0">
                <a:solidFill>
                  <a:schemeClr val="bg1"/>
                </a:solidFill>
              </a:rPr>
              <a:t>- Beispiel: </a:t>
            </a:r>
            <a:r>
              <a:rPr lang="de-DE" sz="2000" dirty="0">
                <a:solidFill>
                  <a:schemeClr val="bg1"/>
                </a:solidFill>
              </a:rPr>
              <a:t>[5, 2, 4, 1] → [1, 2, 4, 5]</a:t>
            </a:r>
          </a:p>
          <a:p>
            <a:pPr marL="0" indent="0"/>
            <a:endParaRPr lang="de-DE" sz="1800" dirty="0" smtClean="0">
              <a:solidFill>
                <a:schemeClr val="bg1"/>
              </a:solidFill>
            </a:endParaRPr>
          </a:p>
          <a:p>
            <a:pPr marL="0" indent="0"/>
            <a:r>
              <a:rPr lang="de-DE" sz="1800" dirty="0">
                <a:solidFill>
                  <a:schemeClr val="bg1"/>
                </a:solidFill>
              </a:rPr>
              <a:t> </a:t>
            </a:r>
            <a:r>
              <a:rPr lang="de-DE" sz="1800" dirty="0" smtClean="0">
                <a:solidFill>
                  <a:schemeClr val="bg1"/>
                </a:solidFill>
              </a:rPr>
              <a:t>        </a:t>
            </a:r>
            <a:endParaRPr lang="de-DE" dirty="0" smtClean="0">
              <a:solidFill>
                <a:schemeClr val="bg1"/>
              </a:solidFill>
            </a:endParaRPr>
          </a:p>
          <a:p>
            <a:endParaRPr lang="de-DE" dirty="0" smtClean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4" name="Gerader Verbinder 13"/>
          <p:cNvCxnSpPr/>
          <p:nvPr/>
        </p:nvCxnSpPr>
        <p:spPr>
          <a:xfrm>
            <a:off x="1135380" y="1409700"/>
            <a:ext cx="12344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Grafik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17" y="3023236"/>
            <a:ext cx="4063863" cy="228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3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50966" y="719333"/>
            <a:ext cx="7926333" cy="826800"/>
          </a:xfrm>
        </p:spPr>
        <p:txBody>
          <a:bodyPr/>
          <a:lstStyle/>
          <a:p>
            <a:r>
              <a:rPr lang="de-DE" dirty="0" smtClean="0">
                <a:solidFill>
                  <a:schemeClr val="bg1"/>
                </a:solidFill>
              </a:rPr>
              <a:t>Bubble Sort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Untertitel 9"/>
          <p:cNvSpPr>
            <a:spLocks noGrp="1"/>
          </p:cNvSpPr>
          <p:nvPr>
            <p:ph type="subTitle" idx="8"/>
          </p:nvPr>
        </p:nvSpPr>
        <p:spPr>
          <a:xfrm>
            <a:off x="6254792" y="2202890"/>
            <a:ext cx="5937208" cy="485323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de-DE" sz="1800" dirty="0" smtClean="0">
                <a:solidFill>
                  <a:schemeClr val="bg1"/>
                </a:solidFill>
              </a:rPr>
              <a:t>Sehr primitiver Algorithmus</a:t>
            </a:r>
          </a:p>
          <a:p>
            <a:pPr marL="285750" indent="-285750">
              <a:buFontTx/>
              <a:buChar char="-"/>
            </a:pPr>
            <a:r>
              <a:rPr lang="de-DE" sz="1800" dirty="0" smtClean="0">
                <a:solidFill>
                  <a:schemeClr val="bg1"/>
                </a:solidFill>
              </a:rPr>
              <a:t>Vergleicht immer benachbarte Elemente</a:t>
            </a:r>
          </a:p>
          <a:p>
            <a:pPr marL="285750" indent="-285750">
              <a:buFontTx/>
              <a:buChar char="-"/>
            </a:pPr>
            <a:r>
              <a:rPr lang="de-DE" sz="1800" dirty="0">
                <a:solidFill>
                  <a:schemeClr val="bg1"/>
                </a:solidFill>
              </a:rPr>
              <a:t>w</a:t>
            </a:r>
            <a:r>
              <a:rPr lang="de-DE" sz="1800" dirty="0" smtClean="0">
                <a:solidFill>
                  <a:schemeClr val="bg1"/>
                </a:solidFill>
              </a:rPr>
              <a:t>enn der größere auf der falschen Seite ist, werden beide getauscht</a:t>
            </a:r>
          </a:p>
          <a:p>
            <a:pPr marL="285750" indent="-285750">
              <a:buFontTx/>
              <a:buChar char="-"/>
            </a:pPr>
            <a:r>
              <a:rPr lang="de-DE" sz="1800" dirty="0">
                <a:solidFill>
                  <a:schemeClr val="bg1"/>
                </a:solidFill>
              </a:rPr>
              <a:t>w</a:t>
            </a:r>
            <a:r>
              <a:rPr lang="de-DE" sz="1800" dirty="0" smtClean="0">
                <a:solidFill>
                  <a:schemeClr val="bg1"/>
                </a:solidFill>
              </a:rPr>
              <a:t>ird solange wiederholt bis alles Sortiert ist</a:t>
            </a:r>
          </a:p>
          <a:p>
            <a:pPr marL="285750" indent="-285750">
              <a:buFontTx/>
              <a:buChar char="-"/>
            </a:pPr>
            <a:r>
              <a:rPr lang="de-DE" sz="1800" dirty="0" smtClean="0">
                <a:solidFill>
                  <a:schemeClr val="bg1"/>
                </a:solidFill>
              </a:rPr>
              <a:t>größere Werte „blubbern“ nach oben </a:t>
            </a:r>
          </a:p>
          <a:p>
            <a:pPr marL="285750" indent="-285750">
              <a:buFontTx/>
              <a:buChar char="-"/>
            </a:pPr>
            <a:r>
              <a:rPr lang="de-DE" sz="1800" dirty="0" smtClean="0">
                <a:solidFill>
                  <a:schemeClr val="bg1"/>
                </a:solidFill>
              </a:rPr>
              <a:t>Schiebt Elemente in die Richtige Richtung</a:t>
            </a:r>
          </a:p>
          <a:p>
            <a:endParaRPr lang="de-DE" dirty="0" smtClean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4" name="Gerader Verbinder 13"/>
          <p:cNvCxnSpPr/>
          <p:nvPr/>
        </p:nvCxnSpPr>
        <p:spPr>
          <a:xfrm>
            <a:off x="1135380" y="1409700"/>
            <a:ext cx="12344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Grafik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" r="990"/>
          <a:stretch/>
        </p:blipFill>
        <p:spPr>
          <a:xfrm>
            <a:off x="893817" y="3000375"/>
            <a:ext cx="4063863" cy="2310219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17" y="3000374"/>
            <a:ext cx="4100234" cy="231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0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50966" y="719333"/>
            <a:ext cx="7926333" cy="826800"/>
          </a:xfrm>
        </p:spPr>
        <p:txBody>
          <a:bodyPr/>
          <a:lstStyle/>
          <a:p>
            <a:r>
              <a:rPr lang="de-DE" dirty="0" smtClean="0">
                <a:solidFill>
                  <a:schemeClr val="bg1"/>
                </a:solidFill>
              </a:rPr>
              <a:t>Selection Sort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Untertitel 9"/>
          <p:cNvSpPr>
            <a:spLocks noGrp="1"/>
          </p:cNvSpPr>
          <p:nvPr>
            <p:ph type="subTitle" idx="8"/>
          </p:nvPr>
        </p:nvSpPr>
        <p:spPr>
          <a:xfrm>
            <a:off x="6262412" y="1448510"/>
            <a:ext cx="6112468" cy="485323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de-DE" sz="1800" dirty="0">
                <a:solidFill>
                  <a:schemeClr val="bg1"/>
                </a:solidFill>
              </a:rPr>
              <a:t>f</a:t>
            </a:r>
            <a:r>
              <a:rPr lang="de-DE" sz="1800" dirty="0" smtClean="0">
                <a:solidFill>
                  <a:schemeClr val="bg1"/>
                </a:solidFill>
              </a:rPr>
              <a:t>ortgeschrittener Algorithmus</a:t>
            </a:r>
          </a:p>
          <a:p>
            <a:pPr marL="285750" indent="-285750">
              <a:buFontTx/>
              <a:buChar char="-"/>
            </a:pPr>
            <a:r>
              <a:rPr lang="de-DE" sz="1800" dirty="0">
                <a:solidFill>
                  <a:schemeClr val="bg1"/>
                </a:solidFill>
              </a:rPr>
              <a:t>s</a:t>
            </a:r>
            <a:r>
              <a:rPr lang="de-DE" sz="1800" dirty="0" smtClean="0">
                <a:solidFill>
                  <a:schemeClr val="bg1"/>
                </a:solidFill>
              </a:rPr>
              <a:t>ucht in jedem Durchlauf das kleinste Element im unsortierten Bereich und </a:t>
            </a:r>
            <a:r>
              <a:rPr lang="de-DE" sz="1800" dirty="0">
                <a:solidFill>
                  <a:schemeClr val="bg1"/>
                </a:solidFill>
              </a:rPr>
              <a:t>tauscht es an die richtige </a:t>
            </a:r>
            <a:r>
              <a:rPr lang="de-DE" sz="1800" dirty="0" smtClean="0">
                <a:solidFill>
                  <a:schemeClr val="bg1"/>
                </a:solidFill>
              </a:rPr>
              <a:t>Stelle </a:t>
            </a:r>
          </a:p>
          <a:p>
            <a:pPr marL="285750" indent="-285750">
              <a:buFontTx/>
              <a:buChar char="-"/>
            </a:pPr>
            <a:r>
              <a:rPr lang="de-DE" sz="1800" dirty="0">
                <a:solidFill>
                  <a:schemeClr val="bg1"/>
                </a:solidFill>
              </a:rPr>
              <a:t>s</a:t>
            </a:r>
            <a:r>
              <a:rPr lang="de-DE" sz="1800" dirty="0" smtClean="0">
                <a:solidFill>
                  <a:schemeClr val="bg1"/>
                </a:solidFill>
              </a:rPr>
              <a:t>ortiert gezielt an die richtige Stelle</a:t>
            </a:r>
          </a:p>
          <a:p>
            <a:pPr marL="0" indent="0"/>
            <a:endParaRPr lang="de-DE" sz="1800" dirty="0" smtClean="0">
              <a:solidFill>
                <a:schemeClr val="bg1"/>
              </a:solidFill>
            </a:endParaRPr>
          </a:p>
        </p:txBody>
      </p:sp>
      <p:cxnSp>
        <p:nvCxnSpPr>
          <p:cNvPr id="14" name="Gerader Verbinder 13"/>
          <p:cNvCxnSpPr/>
          <p:nvPr/>
        </p:nvCxnSpPr>
        <p:spPr>
          <a:xfrm>
            <a:off x="1112520" y="1409700"/>
            <a:ext cx="12344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17" y="3000374"/>
            <a:ext cx="4100234" cy="2310219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46" y="3000373"/>
            <a:ext cx="4146711" cy="231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50966" y="719333"/>
            <a:ext cx="7926333" cy="826800"/>
          </a:xfrm>
        </p:spPr>
        <p:txBody>
          <a:bodyPr/>
          <a:lstStyle/>
          <a:p>
            <a:r>
              <a:rPr lang="de-DE" dirty="0" smtClean="0">
                <a:solidFill>
                  <a:schemeClr val="bg1"/>
                </a:solidFill>
              </a:rPr>
              <a:t>Vergleich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4" name="Gerader Verbinder 13"/>
          <p:cNvCxnSpPr/>
          <p:nvPr/>
        </p:nvCxnSpPr>
        <p:spPr>
          <a:xfrm>
            <a:off x="1112520" y="1409700"/>
            <a:ext cx="12344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feld 5"/>
          <p:cNvSpPr txBox="1"/>
          <p:nvPr/>
        </p:nvSpPr>
        <p:spPr>
          <a:xfrm>
            <a:off x="1249680" y="2100068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 smtClean="0">
                <a:solidFill>
                  <a:schemeClr val="bg1"/>
                </a:solidFill>
              </a:rPr>
              <a:t>Bubble Sort: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6682740" y="2100068"/>
            <a:ext cx="154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 smtClean="0">
                <a:solidFill>
                  <a:schemeClr val="bg1"/>
                </a:solidFill>
              </a:rPr>
              <a:t>Selection Sort: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6682740" y="3097730"/>
            <a:ext cx="36400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e</a:t>
            </a:r>
            <a:r>
              <a:rPr lang="de-DE" dirty="0" smtClean="0">
                <a:solidFill>
                  <a:schemeClr val="bg1"/>
                </a:solidFill>
              </a:rPr>
              <a:t>her schneller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w</a:t>
            </a:r>
            <a:r>
              <a:rPr lang="de-DE" dirty="0" smtClean="0">
                <a:solidFill>
                  <a:schemeClr val="bg1"/>
                </a:solidFill>
              </a:rPr>
              <a:t>enige Vertauschungen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s</a:t>
            </a:r>
            <a:r>
              <a:rPr lang="de-DE" dirty="0" smtClean="0">
                <a:solidFill>
                  <a:schemeClr val="bg1"/>
                </a:solidFill>
              </a:rPr>
              <a:t>ucht gezielt das kleinste Element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e</a:t>
            </a:r>
            <a:r>
              <a:rPr lang="de-DE" dirty="0" smtClean="0">
                <a:solidFill>
                  <a:schemeClr val="bg1"/>
                </a:solidFill>
              </a:rPr>
              <a:t>twas  komplizierter</a:t>
            </a:r>
          </a:p>
          <a:p>
            <a:pPr marL="285750" indent="-285750">
              <a:buFontTx/>
              <a:buChar char="-"/>
            </a:pPr>
            <a:endParaRPr lang="de-DE" dirty="0" smtClean="0">
              <a:solidFill>
                <a:schemeClr val="bg1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1402080" y="3101340"/>
            <a:ext cx="31270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 smtClean="0">
                <a:solidFill>
                  <a:schemeClr val="bg1"/>
                </a:solidFill>
              </a:rPr>
              <a:t>eher langsam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s</a:t>
            </a:r>
            <a:r>
              <a:rPr lang="de-DE" dirty="0" smtClean="0">
                <a:solidFill>
                  <a:schemeClr val="bg1"/>
                </a:solidFill>
              </a:rPr>
              <a:t>ehr viele Vertauschungen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v</a:t>
            </a:r>
            <a:r>
              <a:rPr lang="de-DE" dirty="0" smtClean="0">
                <a:solidFill>
                  <a:schemeClr val="bg1"/>
                </a:solidFill>
              </a:rPr>
              <a:t>ergleicht Nachbarelemente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s</a:t>
            </a:r>
            <a:r>
              <a:rPr lang="de-DE" dirty="0" smtClean="0">
                <a:solidFill>
                  <a:schemeClr val="bg1"/>
                </a:solidFill>
              </a:rPr>
              <a:t>ehr leicht zu verstehen</a:t>
            </a:r>
          </a:p>
          <a:p>
            <a:pPr marL="285750" indent="-285750">
              <a:buFontTx/>
              <a:buChar char="-"/>
            </a:pPr>
            <a:r>
              <a:rPr lang="de-DE" dirty="0" smtClean="0">
                <a:solidFill>
                  <a:schemeClr val="bg1"/>
                </a:solidFill>
              </a:rPr>
              <a:t>gut erkennbar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26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2000"/>
            <a:ext cx="12506325" cy="945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0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Breitbild</PresentationFormat>
  <Paragraphs>46</Paragraphs>
  <Slides>7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Syne Medium</vt:lpstr>
      <vt:lpstr>Syne SemiBold</vt:lpstr>
      <vt:lpstr>Office</vt:lpstr>
      <vt:lpstr>Sortieralgorithmen</vt:lpstr>
      <vt:lpstr>Gliederung</vt:lpstr>
      <vt:lpstr>Was ist ein Sortieralgorithmus</vt:lpstr>
      <vt:lpstr>Bubble Sort</vt:lpstr>
      <vt:lpstr>Selection Sort</vt:lpstr>
      <vt:lpstr>Vergleich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User</dc:creator>
  <cp:lastModifiedBy>User</cp:lastModifiedBy>
  <cp:revision>70</cp:revision>
  <dcterms:created xsi:type="dcterms:W3CDTF">2025-12-07T14:05:46Z</dcterms:created>
  <dcterms:modified xsi:type="dcterms:W3CDTF">2025-12-07T16:33:54Z</dcterms:modified>
</cp:coreProperties>
</file>